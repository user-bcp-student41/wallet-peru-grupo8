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A651"/>
                </a:solidFill>
                <a:latin typeface="Aptos"/>
              </a:defRPr>
            </a:pPr>
            <a:r>
              <a:t>WALLET PERÚ   /   RESUMEN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124712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9112A"/>
                </a:solidFill>
                <a:latin typeface="Aptos Display"/>
              </a:rPr>
              <a:t>Activar una wallet demo, </a:t>
            </a:r>
            <a:r>
              <a:rPr sz="2600" b="1" i="1">
                <a:solidFill>
                  <a:srgbClr val="00A651"/>
                </a:solidFill>
                <a:latin typeface="Aptos Display"/>
              </a:rPr>
              <a:t>sin perderse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78408"/>
            <a:ext cx="1106424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202E41"/>
                </a:solidFill>
                <a:latin typeface="Aptos"/>
              </a:defRPr>
            </a:pPr>
            <a:r>
              <a:t>Onboarding de tres pasos para personas que quieren iniciar pagos cotidianos de bajo monto; no mueve dinero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53312"/>
            <a:ext cx="3675887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353312"/>
            <a:ext cx="50292" cy="731520"/>
          </a:xfrm>
          <a:prstGeom prst="rect">
            <a:avLst/>
          </a:prstGeom>
          <a:solidFill>
            <a:srgbClr val="0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72184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75BE"/>
                </a:solidFill>
                <a:latin typeface="Aptos"/>
              </a:defRPr>
            </a:pPr>
            <a:r>
              <a:t>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334670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202E41"/>
                </a:solidFill>
                <a:latin typeface="Aptos"/>
              </a:defRPr>
            </a:pPr>
            <a:r>
              <a:t>Guiar datos → OTP → PIN → bienvenida con saldo demo; sin revisión humana.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2816" y="1353312"/>
            <a:ext cx="3675887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2816" y="1353312"/>
            <a:ext cx="50292" cy="73152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1472184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A651"/>
                </a:solidFill>
                <a:latin typeface="Aptos"/>
              </a:defRPr>
            </a:pPr>
            <a:r>
              <a:t>PARA QUIÉN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1700784"/>
            <a:ext cx="334670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202E41"/>
                </a:solidFill>
                <a:latin typeface="Aptos"/>
              </a:defRPr>
            </a:pPr>
            <a:r>
              <a:t>Persona que quiere empezar a realizar pagos cotidianos de bajo monto.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3" y="1353312"/>
            <a:ext cx="3675887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53312"/>
            <a:ext cx="50292" cy="731520"/>
          </a:xfrm>
          <a:prstGeom prst="rect">
            <a:avLst/>
          </a:prstGeom>
          <a:solidFill>
            <a:srgbClr val="EF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472184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EF7400"/>
                </a:solidFill>
                <a:latin typeface="Aptos"/>
              </a:defRPr>
            </a:pPr>
            <a:r>
              <a:t>VALOR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700784"/>
            <a:ext cx="334670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202E41"/>
                </a:solidFill>
                <a:latin typeface="Aptos"/>
              </a:defRPr>
            </a:pPr>
            <a:r>
              <a:t>Menos incertidumbre en el alta. Meta 8→3 min; MAU/CAC son objetivos, no resultados medidos.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249424"/>
            <a:ext cx="11393424" cy="850392"/>
          </a:xfrm>
          <a:prstGeom prst="rect">
            <a:avLst/>
          </a:prstGeom>
          <a:solidFill>
            <a:srgbClr val="09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386584"/>
            <a:ext cx="1078992" cy="4846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ARQUITECTURA</a:t>
            </a:r>
            <a:br/>
            <a:r>
              <a:t>Y FLUJO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50008"/>
            <a:ext cx="1874519" cy="640080"/>
          </a:xfrm>
          <a:prstGeom prst="rect">
            <a:avLst/>
          </a:prstGeom>
          <a:solidFill>
            <a:srgbClr val="1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1" y="2423160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75B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1" y="2633472"/>
            <a:ext cx="1673351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FFFFFF"/>
                </a:solidFill>
                <a:latin typeface="Aptos"/>
              </a:defRPr>
            </a:pPr>
            <a:r>
              <a:t>React 19.3 · TS 6.0</a:t>
            </a:r>
            <a:br/>
            <a:r>
              <a:t>Vite 8.3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7" y="2350008"/>
            <a:ext cx="1938528" cy="640080"/>
          </a:xfrm>
          <a:prstGeom prst="rect">
            <a:avLst/>
          </a:prstGeom>
          <a:solidFill>
            <a:srgbClr val="1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2423160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A651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633472"/>
            <a:ext cx="173736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FFFFFF"/>
                </a:solidFill>
                <a:latin typeface="Aptos"/>
              </a:defRPr>
            </a:pPr>
            <a:r>
              <a:t>Quarkus 3.40.1</a:t>
            </a:r>
            <a:br/>
            <a:r>
              <a:t>JDK 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2350008"/>
            <a:ext cx="1618488" cy="640080"/>
          </a:xfrm>
          <a:prstGeom prst="rect">
            <a:avLst/>
          </a:prstGeom>
          <a:solidFill>
            <a:srgbClr val="1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2423160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EF7400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2633472"/>
            <a:ext cx="141732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FFFFFF"/>
                </a:solidFill>
                <a:latin typeface="Aptos"/>
              </a:defRPr>
            </a:pPr>
            <a:r>
              <a:t>H2 en memoria</a:t>
            </a:r>
            <a:br/>
            <a:r>
              <a:t>fixtures sintéticos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67344" y="2350008"/>
            <a:ext cx="2971800" cy="640080"/>
          </a:xfrm>
          <a:prstGeom prst="rect">
            <a:avLst/>
          </a:prstGeom>
          <a:solidFill>
            <a:srgbClr val="15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86216" y="2423160"/>
            <a:ext cx="30632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CF2C67"/>
                </a:solidFill>
                <a:latin typeface="Aptos"/>
              </a:defRPr>
            </a:pPr>
            <a:r>
              <a:t>OTP / 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6216" y="2633472"/>
            <a:ext cx="277063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FFFFFF"/>
                </a:solidFill>
                <a:latin typeface="Aptos"/>
              </a:defRPr>
            </a:pPr>
            <a:r>
              <a:t>SMTP local → Mailpit 1.31.6</a:t>
            </a:r>
            <a:br/>
            <a:r>
              <a:t>Podman · polling cada 3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3904" y="2542032"/>
            <a:ext cx="228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542032"/>
            <a:ext cx="228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3" y="2542032"/>
            <a:ext cx="228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182112"/>
            <a:ext cx="1120140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5B6A7C"/>
                </a:solidFill>
                <a:latin typeface="Aptos"/>
              </a:defRPr>
            </a:pPr>
            <a:r>
              <a:t>DECISIONES  ·  H2 vs. BD persistente: H2 para reset demo  |  Mailpit vs. correo real: captura local  |  Fixtures vs. KYC: solo sintéticos  |  Pagos: fuera de alcance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3529584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9112A"/>
                </a:solidFill>
                <a:latin typeface="Aptos"/>
              </a:defRPr>
            </a:pPr>
            <a:r>
              <a:t>COBERTURA DEL RETO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3529584"/>
            <a:ext cx="873252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0">
                <a:solidFill>
                  <a:srgbClr val="5B6A7C"/>
                </a:solidFill>
                <a:latin typeface="Aptos"/>
              </a:defRPr>
            </a:pPr>
            <a:r>
              <a:t>W1–W6 no están definidos oficialmente en las fuentes: agrupación interna de capacidades del onboarding.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3776472"/>
            <a:ext cx="512064" cy="283464"/>
          </a:xfrm>
          <a:prstGeom prst="rect">
            <a:avLst/>
          </a:prstGeom>
          <a:solidFill>
            <a:srgbClr val="09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" y="3813048"/>
            <a:ext cx="40233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40" b="1">
                <a:solidFill>
                  <a:srgbClr val="FFFFF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" y="3776472"/>
            <a:ext cx="1947672" cy="283464"/>
          </a:xfrm>
          <a:prstGeom prst="rect">
            <a:avLst/>
          </a:prstGeom>
          <a:solidFill>
            <a:srgbClr val="09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813048"/>
            <a:ext cx="1837943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40" b="1">
                <a:solidFill>
                  <a:srgbClr val="FFFFFF"/>
                </a:solidFill>
                <a:latin typeface="Aptos"/>
              </a:defRPr>
            </a:pPr>
            <a:r>
              <a:t>CAPACIDAD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43784" y="3776472"/>
            <a:ext cx="1024128" cy="283464"/>
          </a:xfrm>
          <a:prstGeom prst="rect">
            <a:avLst/>
          </a:prstGeom>
          <a:solidFill>
            <a:srgbClr val="09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1" y="3813048"/>
            <a:ext cx="914400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40" b="1">
                <a:solidFill>
                  <a:srgbClr val="FFFFFF"/>
                </a:solidFill>
                <a:latin typeface="Aptos"/>
              </a:defRPr>
            </a:pPr>
            <a:r>
              <a:t>ESTADO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67912" y="3776472"/>
            <a:ext cx="4370832" cy="283464"/>
          </a:xfrm>
          <a:prstGeom prst="rect">
            <a:avLst/>
          </a:prstGeom>
          <a:solidFill>
            <a:srgbClr val="09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3813048"/>
            <a:ext cx="4261104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40" b="1">
                <a:solidFill>
                  <a:srgbClr val="FFFFFF"/>
                </a:solidFill>
                <a:latin typeface="Aptos"/>
              </a:defRPr>
            </a:pPr>
            <a:r>
              <a:t>IMPLEMENTACIÓN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38744" y="3776472"/>
            <a:ext cx="3538728" cy="283464"/>
          </a:xfrm>
          <a:prstGeom prst="rect">
            <a:avLst/>
          </a:prstGeom>
          <a:solidFill>
            <a:srgbClr val="09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3813048"/>
            <a:ext cx="3429000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40" b="1">
                <a:solidFill>
                  <a:srgbClr val="FFFFFF"/>
                </a:solidFill>
                <a:latin typeface="Aptos"/>
              </a:defRPr>
            </a:pPr>
            <a:r>
              <a:t>EVIDENCIA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4059935"/>
            <a:ext cx="512064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6" y="4101083"/>
            <a:ext cx="39319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9112A"/>
                </a:solidFill>
                <a:latin typeface="Aptos"/>
              </a:defRPr>
            </a:pPr>
            <a:r>
              <a:t>W1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" y="4059935"/>
            <a:ext cx="1947672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4101083"/>
            <a:ext cx="182880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Datos y fixtures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43784" y="4059935"/>
            <a:ext cx="1024128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98648" y="4105655"/>
            <a:ext cx="914400" cy="288036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00A651"/>
                </a:solidFill>
                <a:latin typeface="Aptos"/>
              </a:defRPr>
            </a:pPr>
            <a:r>
              <a:t>HECHO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67912" y="4059935"/>
            <a:ext cx="4370832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0" y="4101083"/>
            <a:ext cx="425196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Formulario, validación y búsqueda DNI/pasaporte sintético.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38744" y="4059935"/>
            <a:ext cx="3538728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02752" y="4101083"/>
            <a:ext cx="341985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TC-01/02 · fixtures DNI y pasaporte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" y="4430268"/>
            <a:ext cx="512064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056" y="4471416"/>
            <a:ext cx="39319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9112A"/>
                </a:solidFill>
                <a:latin typeface="Aptos"/>
              </a:defRPr>
            </a:pPr>
            <a:r>
              <a:t>W2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2" y="4430268"/>
            <a:ext cx="1947672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4471416"/>
            <a:ext cx="182880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Ciclo OTP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43784" y="4430268"/>
            <a:ext cx="1024128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98648" y="4475988"/>
            <a:ext cx="914400" cy="288036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00A651"/>
                </a:solidFill>
                <a:latin typeface="Aptos"/>
              </a:defRPr>
            </a:pPr>
            <a:r>
              <a:t>HECHO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67912" y="4430268"/>
            <a:ext cx="4370832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0" y="4471416"/>
            <a:ext cx="425196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4 dígitos · 5 min · 3 intentos · sin reenvío.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38744" y="4430268"/>
            <a:ext cx="3538728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02752" y="4471416"/>
            <a:ext cx="341985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TC-03/05/06/07 · entrega local registrada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" y="4800600"/>
            <a:ext cx="512064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8056" y="4841748"/>
            <a:ext cx="39319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9112A"/>
                </a:solidFill>
                <a:latin typeface="Aptos"/>
              </a:defRPr>
            </a:pPr>
            <a:r>
              <a:t>W3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" y="4800600"/>
            <a:ext cx="1947672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" y="4841748"/>
            <a:ext cx="182880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PIN y wallet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43784" y="4800600"/>
            <a:ext cx="1024128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98648" y="4846320"/>
            <a:ext cx="914400" cy="288036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00A651"/>
                </a:solidFill>
                <a:latin typeface="Aptos"/>
              </a:defRPr>
            </a:pPr>
            <a:r>
              <a:t>HECHO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67912" y="4800600"/>
            <a:ext cx="4370832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0" y="4841748"/>
            <a:ext cx="425196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PIN de 4 dígitos; S/100 atómico e idempotente; rollback.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38744" y="4800600"/>
            <a:ext cx="3538728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02752" y="4841748"/>
            <a:ext cx="341985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TC-08/09 · crédito único + rollback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" y="5170931"/>
            <a:ext cx="512064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8056" y="5212079"/>
            <a:ext cx="39319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9112A"/>
                </a:solidFill>
                <a:latin typeface="Aptos"/>
              </a:defRPr>
            </a:pPr>
            <a:r>
              <a:t>W4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6112" y="5170931"/>
            <a:ext cx="1947672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0120" y="5212079"/>
            <a:ext cx="182880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Bienvenida/eventos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43784" y="5170931"/>
            <a:ext cx="1024128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98648" y="5216651"/>
            <a:ext cx="914400" cy="288036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00A651"/>
                </a:solidFill>
                <a:latin typeface="Aptos"/>
              </a:defRPr>
            </a:pPr>
            <a:r>
              <a:t>HECHO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67912" y="5170931"/>
            <a:ext cx="4370832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31920" y="5212079"/>
            <a:ext cx="425196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Nombre/saldo del API; polling 3 s; eventos con ID opaco.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38744" y="5170931"/>
            <a:ext cx="3538728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02752" y="5212079"/>
            <a:ext cx="341985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TC-10/12 · UI y eventos REST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4048" y="5541264"/>
            <a:ext cx="512064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8056" y="5582412"/>
            <a:ext cx="39319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9112A"/>
                </a:solidFill>
                <a:latin typeface="Aptos"/>
              </a:defRPr>
            </a:pPr>
            <a:r>
              <a:t>W5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6112" y="5541264"/>
            <a:ext cx="1947672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0120" y="5582412"/>
            <a:ext cx="182880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Privacidad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43784" y="5541264"/>
            <a:ext cx="1024128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98648" y="5586983"/>
            <a:ext cx="914400" cy="288036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EF7400"/>
                </a:solidFill>
                <a:latin typeface="Aptos"/>
              </a:defRPr>
            </a:pPr>
            <a:r>
              <a:t>PARCIAL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67912" y="5541264"/>
            <a:ext cx="4370832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31920" y="5582412"/>
            <a:ext cx="425196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HMAC + sal, sin PII en logs; OTP visible en buzón de demo.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38744" y="5541264"/>
            <a:ext cx="3538728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02752" y="5582412"/>
            <a:ext cx="341985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TC-11 parcial: aclarar criterio Mailpit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" y="5911596"/>
            <a:ext cx="512064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6" y="5952744"/>
            <a:ext cx="39319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9112A"/>
                </a:solidFill>
                <a:latin typeface="Aptos"/>
              </a:defRPr>
            </a:pPr>
            <a:r>
              <a:t>W6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6112" y="5911596"/>
            <a:ext cx="1947672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0120" y="5952744"/>
            <a:ext cx="182880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Integración/aceptación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43784" y="5911596"/>
            <a:ext cx="1024128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98648" y="5957316"/>
            <a:ext cx="914400" cy="288036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EF7400"/>
                </a:solidFill>
                <a:latin typeface="Aptos"/>
              </a:defRPr>
            </a:pPr>
            <a:r>
              <a:t>PARCIAL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867912" y="5911596"/>
            <a:ext cx="4370832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931920" y="5952744"/>
            <a:ext cx="425196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Mailpit real y entorno limpio/E2E repetible pendientes.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38744" y="5911596"/>
            <a:ext cx="3538728" cy="370332"/>
          </a:xfrm>
          <a:prstGeom prst="rect">
            <a:avLst/>
          </a:prstGeom>
          <a:solidFill>
            <a:srgbClr val="F1F5F9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02752" y="5952744"/>
            <a:ext cx="341985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202E41"/>
                </a:solidFill>
                <a:latin typeface="Aptos"/>
              </a:defRPr>
            </a:pPr>
            <a:r>
              <a:t>2 recorridos manuales reportados; clean E2E pendiente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8912" y="6345936"/>
            <a:ext cx="110642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9" b="1">
                <a:solidFill>
                  <a:srgbClr val="5B6A7C"/>
                </a:solidFill>
                <a:latin typeface="Aptos"/>
              </a:defRPr>
            </a:pPr>
            <a:r>
              <a:t>PEN 100 ficticios · no KYC, correo externo ni fondos reales · los objetivos de negocio aún no se validan con cohortes.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62488" y="6583680"/>
            <a:ext cx="1024128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5B6A7C"/>
                </a:solidFill>
                <a:latin typeface="Aptos"/>
              </a:defRPr>
            </a:pPr>
            <a:r>
              <a:t>01  /  PRODUCTO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A651"/>
                </a:solidFill>
                <a:latin typeface="Aptos"/>
              </a:defRPr>
            </a:pPr>
            <a:r>
              <a:t>WALLET PERÚ   /   RUNBOOK + DEFENSA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84632"/>
            <a:ext cx="111556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 Display"/>
              </a:rPr>
              <a:t>Una demo reproducible. </a:t>
            </a:r>
            <a:r>
              <a:rPr sz="2600" b="1" i="1">
                <a:solidFill>
                  <a:srgbClr val="00A651"/>
                </a:solidFill>
                <a:latin typeface="Aptos Display"/>
              </a:rPr>
              <a:t>Límites a la vista.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78408"/>
            <a:ext cx="110642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DAE5F2"/>
                </a:solidFill>
                <a:latin typeface="Aptos"/>
              </a:defRPr>
            </a:pPr>
            <a:r>
              <a:t>Ejecución, evidencia, herramientas de IA y responsables en una página de consulta rápida.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53312"/>
            <a:ext cx="3675887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42816" y="1353312"/>
            <a:ext cx="3675887" cy="24505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01583" y="1353312"/>
            <a:ext cx="3675887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75BE"/>
                </a:solidFill>
                <a:latin typeface="Aptos"/>
              </a:defRPr>
            </a:pPr>
            <a:r>
              <a:t>01 · CÓMO EJECUTAR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46504"/>
            <a:ext cx="329184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80" b="1">
                <a:solidFill>
                  <a:srgbClr val="09112A"/>
                </a:solidFill>
                <a:latin typeface="Aptos"/>
              </a:defRPr>
            </a:pPr>
            <a:r>
              <a:t>JDK 25 · Node 26.9 / npm 11.19 · Podman 6.0.2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3291840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02E41"/>
                </a:solidFill>
                <a:latin typeface="Aptos"/>
              </a:defRPr>
            </a:pPr>
            <a:r>
              <a:t>backend/.env.example: ONBOARDING_HMAC_KEY (32+ bytes), SMTP_HOST=127.0.0.1, SMTP_PORT=1025, FRONTEND_ORIGIN=localhost:5173.</a:t>
            </a:r>
            <a:br/>
            <a:r>
              <a:t>frontend: VITE_API_BASE_URL default localhost:8080/api/v1; .env.example no la declara.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70048"/>
            <a:ext cx="3291840" cy="87782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0" b="1">
                <a:solidFill>
                  <a:srgbClr val="09112A"/>
                </a:solidFill>
                <a:latin typeface="Consolas"/>
              </a:defRPr>
            </a:pPr>
            <a:r>
              <a:t>Mailpit: podman run --rm --name wallet-demo-mailpit -p 127.0.0.1:8025:8025 -p 127.0.0.1:1025:1025 docker.io/axllent/mailpit:v1.31.6</a:t>
            </a:r>
            <a:br/>
            <a:r>
              <a:t>API: .\mvnw.cmd quarkus:dev</a:t>
            </a:r>
            <a:br/>
            <a:r>
              <a:t>UI: npm ci  ·  npm run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93008"/>
            <a:ext cx="329184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>
              <a:defRPr sz="710"/>
            </a:pPr>
            <a:r>
              <a:t>UI :5173 · API :8080/api/v1 · Health :8080/api/v1/q/health · Mailpit :8025</a:t>
            </a:r>
          </a:p>
          <a:p>
            <a:pPr>
              <a:defRPr sz="710"/>
            </a:pPr>
            <a:r>
              <a:t>Fixtures sintéticos: DNI 11111111 Persona Sintética · Pasaporte P0000001 Pasaporte De Prueba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508760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EF7400"/>
                </a:solidFill>
                <a:latin typeface="Aptos"/>
              </a:defRPr>
            </a:pPr>
            <a:r>
              <a:t>02 · EVIDENCIA Y PRUEBAS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746504"/>
            <a:ext cx="1554480" cy="44805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F7400"/>
                </a:solidFill>
                <a:latin typeface="Aptos"/>
              </a:defRPr>
            </a:pPr>
            <a:r>
              <a:t>14/14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819656"/>
            <a:ext cx="1536192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9112A"/>
                </a:solidFill>
                <a:latin typeface="Aptos"/>
              </a:defRPr>
            </a:pPr>
            <a:r>
              <a:t>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194560"/>
            <a:ext cx="1554480" cy="44805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5BE"/>
                </a:solidFill>
                <a:latin typeface="Aptos"/>
              </a:defRPr>
            </a:pPr>
            <a:r>
              <a:t>8/8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267712"/>
            <a:ext cx="1536192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9112A"/>
                </a:solidFill>
                <a:latin typeface="Aptos"/>
              </a:defRPr>
            </a:pPr>
            <a:r>
              <a:t>UI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688336"/>
            <a:ext cx="327355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00A651"/>
                </a:solidFill>
                <a:latin typeface="Aptos"/>
              </a:defRPr>
            </a:pPr>
            <a:r>
              <a:t>Lint y build frontend: PASS · validado en este entorno.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26080"/>
            <a:ext cx="3273552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202E41"/>
                </a:solidFill>
                <a:latin typeface="Aptos"/>
              </a:defRPr>
            </a:pPr>
            <a:r>
              <a:t>HAPPY PATH: DNI y pasaporte con Mailpit; OTP → PIN → bienvenida S/100 (recorrido manual registrado).</a:t>
            </a:r>
            <a:br/>
            <a:r>
              <a:t>BORDES: sin coincidencia; OTP inválido/vencido/reusado/3 intentos; PIN inválido; doble crédito y rollback.</a:t>
            </a:r>
            <a:br/>
            <a:r>
              <a:t>TC-11 privacidad: PARCIAL; resolver si Mailpit puede contener OTP sintético legible.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1508760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CF2C67"/>
                </a:solidFill>
                <a:latin typeface="Aptos"/>
              </a:defRPr>
            </a:pPr>
            <a:r>
              <a:t>03 · IA, MCP Y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1755648"/>
            <a:ext cx="3273552" cy="218541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0">
                <a:solidFill>
                  <a:srgbClr val="202E41"/>
                </a:solidFill>
                <a:latin typeface="Aptos"/>
              </a:defRPr>
            </a:pPr>
            <a:r>
              <a:t>PROMPT · patrón de implementación: flujo sin HITL, datos sintéticos, OTP limitado, PIN y crédito idempotente; el prompt literal no está versionado.</a:t>
            </a:r>
            <a:br/>
            <a:r>
              <a:t>SKILLS/PROMPTS · feature-intake-spec-checklist y workflows OpenSpec: propose/explore/apply/update/sync/archive.</a:t>
            </a:r>
            <a:br/>
            <a:r>
              <a:t>AGENTES · PM-PO, Architect, Developer, Discovery, OpenSpec, Chapter y Orchestrator configurados; no se atribuyen ejecuciones no registradas.</a:t>
            </a:r>
            <a:br/>
            <a:r>
              <a:t>MCP · manage_issues para trazabilidad; no es parte del runtime de la wallet.</a:t>
            </a:r>
            <a:br/>
            <a:r>
              <a:t>GUARDRAILS · sin secretos/PII, no pagos reales, tests y estado explícito de pendientes.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005072"/>
            <a:ext cx="5577840" cy="2267712"/>
          </a:xfrm>
          <a:prstGeom prst="rect">
            <a:avLst/>
          </a:prstGeom>
          <a:solidFill>
            <a:srgbClr val="15203E"/>
          </a:solidFill>
          <a:ln w="10160">
            <a:solidFill>
              <a:srgbClr val="33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4169663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A651"/>
                </a:solidFill>
                <a:latin typeface="Aptos"/>
              </a:defRPr>
            </a:pPr>
            <a:r>
              <a:t>04 · TRADE-OFFS Y SIGUIENTE ITERACIÓN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443984"/>
            <a:ext cx="5175504" cy="154533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9" b="0">
                <a:solidFill>
                  <a:srgbClr val="DAE5F2"/>
                </a:solidFill>
                <a:latin typeface="Aptos"/>
              </a:defRPr>
            </a:pPr>
            <a:r>
              <a:t>NO SE HIZO · KYC, correo real, pagos/retiros, persistencia duradera ni seguridad productiva. H2 se borra al reiniciar.</a:t>
            </a:r>
            <a:br/>
            <a:r>
              <a:t>RIESGOS/DEUDA · OTP/PIN de 4 dígitos; inferencia indirecta del lookup; TC-11 Mailpit pendiente; demo-script y algunas especificaciones requieren reconciliarse.</a:t>
            </a:r>
            <a:br/>
            <a:r>
              <a:t>SIGUIENTE · E2E repetible desde entorno limpio, alinear DTOs/contrato, cerrar criterio de privacidad y actualizar el guion con evidencia real.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4005072"/>
            <a:ext cx="5632704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169663"/>
            <a:ext cx="36576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0075BE"/>
                </a:solidFill>
                <a:latin typeface="Aptos"/>
              </a:defRPr>
            </a:pPr>
            <a:r>
              <a:t>05 · EQUIPO Y CONTRIBUCIONES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169663"/>
            <a:ext cx="2340864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40" b="1">
                <a:solidFill>
                  <a:srgbClr val="5B6A7C"/>
                </a:solidFill>
                <a:latin typeface="Aptos"/>
              </a:defRPr>
            </a:pPr>
            <a:r>
              <a:t>NOMBRES: NO DOCUMENTADOS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489704"/>
            <a:ext cx="9326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09112A"/>
                </a:solidFill>
                <a:latin typeface="Aptos"/>
              </a:defRPr>
            </a:pPr>
            <a:r>
              <a:t>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489704"/>
            <a:ext cx="176479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0" b="0">
                <a:solidFill>
                  <a:srgbClr val="202E41"/>
                </a:solidFill>
                <a:latin typeface="Aptos"/>
              </a:defRPr>
            </a:pPr>
            <a:r>
              <a:t>alcance, criterios y seguimiento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4489704"/>
            <a:ext cx="9326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09112A"/>
                </a:solidFill>
                <a:latin typeface="Aptos"/>
              </a:defRPr>
            </a:pPr>
            <a:r>
              <a:t>Producto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4489704"/>
            <a:ext cx="176479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0" b="0">
                <a:solidFill>
                  <a:srgbClr val="202E41"/>
                </a:solidFill>
                <a:latin typeface="Aptos"/>
              </a:defRPr>
            </a:pPr>
            <a:r>
              <a:t>historia, prioridad y valor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892040"/>
            <a:ext cx="9326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09112A"/>
                </a:solidFill>
                <a:latin typeface="Aptos"/>
              </a:defRPr>
            </a:pPr>
            <a:r>
              <a:t>Arquitecto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892040"/>
            <a:ext cx="176479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0" b="0">
                <a:solidFill>
                  <a:srgbClr val="202E41"/>
                </a:solidFill>
                <a:latin typeface="Aptos"/>
              </a:defRPr>
            </a:pPr>
            <a:r>
              <a:t>componentes, estados, contratos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4892040"/>
            <a:ext cx="9326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09112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4892040"/>
            <a:ext cx="176479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0" b="0">
                <a:solidFill>
                  <a:srgbClr val="202E41"/>
                </a:solidFill>
                <a:latin typeface="Aptos"/>
              </a:defRPr>
            </a:pPr>
            <a:r>
              <a:t>3 pantallas, validación, polling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294376"/>
            <a:ext cx="9326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09112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294376"/>
            <a:ext cx="176479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0" b="0">
                <a:solidFill>
                  <a:srgbClr val="202E41"/>
                </a:solidFill>
                <a:latin typeface="Aptos"/>
              </a:defRPr>
            </a:pPr>
            <a:r>
              <a:t>API, OTP, H2, wallet idempotente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5294376"/>
            <a:ext cx="9326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09112A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4392" y="5294376"/>
            <a:ext cx="176479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0" b="0">
                <a:solidFill>
                  <a:srgbClr val="202E41"/>
                </a:solidFill>
                <a:latin typeface="Aptos"/>
              </a:defRPr>
            </a:pPr>
            <a:r>
              <a:t>matriz, automatización, evidencia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696712"/>
            <a:ext cx="9326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09112A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5696712"/>
            <a:ext cx="176479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0" b="0">
                <a:solidFill>
                  <a:srgbClr val="202E41"/>
                </a:solidFill>
                <a:latin typeface="Aptos"/>
              </a:defRPr>
            </a:pPr>
            <a:r>
              <a:t>PII, HMAC, riesgos y guardrails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715000"/>
            <a:ext cx="2331720" cy="402336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5B6A7C"/>
                </a:solidFill>
                <a:latin typeface="Aptos"/>
              </a:defRPr>
            </a:pPr>
            <a:r>
              <a:t>Añadir nombres reales antes de entregar.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6574536"/>
            <a:ext cx="6858000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40" b="0">
                <a:solidFill>
                  <a:srgbClr val="DAE5F2"/>
                </a:solidFill>
                <a:latin typeface="Aptos"/>
              </a:defRPr>
            </a:pPr>
            <a:r>
              <a:t>Tests locales: 14 REST + 8 UI; lint/build PASS · integración E2E limpia aún pendiente.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62488" y="6583680"/>
            <a:ext cx="1024128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AE5F2"/>
                </a:solidFill>
                <a:latin typeface="Aptos"/>
              </a:defRPr>
            </a:pPr>
            <a:r>
              <a:t>02  /  OPERACIÓN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Perú | Resumen de proyecto</dc:title>
  <dc:subject>Presentación de dos diapositivas: proyecto, operación y evidencia</dc:subject>
  <dc:creator>Wallet Perú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